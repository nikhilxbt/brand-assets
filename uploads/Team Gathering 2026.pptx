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9" r:id="rId2"/>
    <p:sldId id="260" r:id="rId3"/>
    <p:sldId id="274" r:id="rId4"/>
    <p:sldId id="280" r:id="rId5"/>
    <p:sldId id="283" r:id="rId6"/>
    <p:sldId id="286" r:id="rId7"/>
    <p:sldId id="287" r:id="rId8"/>
    <p:sldId id="271" r:id="rId9"/>
    <p:sldId id="272" r:id="rId10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44"/>
    <p:restoredTop sz="94656"/>
  </p:normalViewPr>
  <p:slideViewPr>
    <p:cSldViewPr snapToGrid="0">
      <p:cViewPr varScale="1">
        <p:scale>
          <a:sx n="110" d="100"/>
          <a:sy n="110" d="100"/>
        </p:scale>
        <p:origin x="-4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title>
      <c:tx>
        <c:rich>
          <a:bodyPr/>
          <a:lstStyle/>
          <a:p>
            <a:pPr>
              <a:defRPr sz="1500" b="1">
                <a:solidFill>
                  <a:srgbClr val="1C1C1A"/>
                </a:solidFill>
              </a:defRPr>
            </a:pPr>
            <a:r>
              <a:rPr lang="en-GB" sz="1500" b="1">
                <a:solidFill>
                  <a:srgbClr val="1C1C1A"/>
                </a:solidFill>
              </a:rPr>
              <a:t>Unique visitors /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Unique visitors</c:v>
          </c:tx>
          <c:spPr>
            <a:solidFill>
              <a:srgbClr val="3E7B4E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1C1C1A"/>
                    </a:solidFill>
                  </a:defRPr>
                </a:pPr>
                <a:endParaRPr lang="en-GB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May</c:v>
              </c:pt>
              <c:pt idx="1">
                <c:v>Jun</c:v>
              </c:pt>
              <c:pt idx="2">
                <c:v>Jul</c:v>
              </c:pt>
              <c:pt idx="3">
                <c:v>Aug</c:v>
              </c:pt>
            </c:strLit>
          </c:cat>
          <c:val>
            <c:numLit>
              <c:formatCode>General</c:formatCode>
              <c:ptCount val="4"/>
              <c:pt idx="0">
                <c:v>928</c:v>
              </c:pt>
              <c:pt idx="1">
                <c:v>3093</c:v>
              </c:pt>
              <c:pt idx="2">
                <c:v>9590</c:v>
              </c:pt>
              <c:pt idx="3">
                <c:v>6568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BFC-6646-BD97-320135ADE7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C9BFAD"/>
            </a:solidFill>
          </a:ln>
        </c:spPr>
        <c:txPr>
          <a:bodyPr/>
          <a:lstStyle/>
          <a:p>
            <a:pPr>
              <a:defRPr sz="1400">
                <a:solidFill>
                  <a:srgbClr val="1C1C1A"/>
                </a:solidFill>
              </a:defRPr>
            </a:pPr>
            <a:endParaRPr lang="en-GB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0450-E8E5-659C-E9FB-379BD79F0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BF403-6959-E6A4-C4F6-AFC0A1C08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DFB6C-91BA-BE4C-0615-D531441D6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13AD-683A-EE46-BD10-28E820CA79F0}" type="datetimeFigureOut">
              <a:rPr lang="en-CH" smtClean="0"/>
              <a:t>30.08.2026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78116-EA89-C0B4-CB9B-D621E02EC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E4433-2D6E-6958-8AD1-3ADB4B969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4453-BB69-F54C-8ABB-B4EE633F3D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42621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350BD-6C21-2C45-A8C2-50E5D3050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1180B-0863-E1C4-5FD1-C55D3BCDF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75F59-1460-C4FC-29D1-56208D83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13AD-683A-EE46-BD10-28E820CA79F0}" type="datetimeFigureOut">
              <a:rPr lang="en-CH" smtClean="0"/>
              <a:t>30.08.2026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58E36-74AC-D4F3-2782-2FD10352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FAD60-EA01-A259-319A-EDED02BE2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4453-BB69-F54C-8ABB-B4EE633F3D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5084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7346A-3CA5-1D24-0BA3-9E82AF964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405C4-9659-2C17-D456-19B5F7292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B7850-3E69-2100-B953-44B2AF2C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13AD-683A-EE46-BD10-28E820CA79F0}" type="datetimeFigureOut">
              <a:rPr lang="en-CH" smtClean="0"/>
              <a:t>30.08.2026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26561-A86A-BCA1-EE0F-A86A8820B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E59D-DA0F-39F3-EAF5-94BDDFA2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4453-BB69-F54C-8ABB-B4EE633F3D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4039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7A2F-DFD6-727C-55EC-3CC59A471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3F46C-D9FE-1C7D-1633-C9E856340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31F85-D9DC-81D0-68F9-CAA131B7E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52641-AD19-6745-D7E6-8998F43BC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13AD-683A-EE46-BD10-28E820CA79F0}" type="datetimeFigureOut">
              <a:rPr lang="en-CH" smtClean="0"/>
              <a:t>30.08.2026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CC5A7-2C60-0187-FAF6-F85A69A5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59253-9150-68A2-2662-AED6A19C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4453-BB69-F54C-8ABB-B4EE633F3D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98408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2FA54-8E15-5E8B-9CD7-CC88B4E7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AAF2E-1D92-ABF9-5188-E6DCEAF87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7AB9F-10D1-ED43-1B84-8CFA52780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8A526-A55D-3D9B-8D8A-1EC4A9607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BE0E6-27FA-8F28-F2AD-6A4AC9B58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2224B7-F899-C637-5D67-0E82C2B3E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13AD-683A-EE46-BD10-28E820CA79F0}" type="datetimeFigureOut">
              <a:rPr lang="en-CH" smtClean="0"/>
              <a:t>30.08.2026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EC6291-02F4-4A14-38FF-0708FF325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D60896-68C1-52B5-0EE7-02A63B78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4453-BB69-F54C-8ABB-B4EE633F3D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19588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D97B-2BFE-DDF7-F702-F9156F7E1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4AF817-A926-2C0C-2625-F3E07B421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13AD-683A-EE46-BD10-28E820CA79F0}" type="datetimeFigureOut">
              <a:rPr lang="en-CH" smtClean="0"/>
              <a:t>30.08.2026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A16DC8-25B2-8E75-F948-7543F6ADB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62A18-E700-3CA0-DCBA-93B79356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4453-BB69-F54C-8ABB-B4EE633F3D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7731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7267E8-C26C-7A97-01EF-8CF017E3F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13AD-683A-EE46-BD10-28E820CA79F0}" type="datetimeFigureOut">
              <a:rPr lang="en-CH" smtClean="0"/>
              <a:t>30.08.2026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A4B14-952B-0AC1-DDAB-EF90249B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F08AE-51A6-328C-63D0-909AE01B7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4453-BB69-F54C-8ABB-B4EE633F3D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21969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1861-39F3-FF90-26FC-0EDC7DB17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42E48-E522-1CCA-0026-1D2990B86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2134F-D0AC-C74D-8044-3757882EE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C7361-B207-148D-F9BA-D5F605617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13AD-683A-EE46-BD10-28E820CA79F0}" type="datetimeFigureOut">
              <a:rPr lang="en-CH" smtClean="0"/>
              <a:t>30.08.2026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B058C-8B2F-73F9-9276-59C79CFD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DE554-2D2C-81EE-D979-F651ACC1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4453-BB69-F54C-8ABB-B4EE633F3D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30981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66BB7-65C5-626D-6169-D2F926B3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10B626-36A8-3B90-BCBF-701D7EC1F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EBED7-3BAA-BE05-95A8-83F781C31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5C6B3-AA42-9B84-C555-20BADE7B1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13AD-683A-EE46-BD10-28E820CA79F0}" type="datetimeFigureOut">
              <a:rPr lang="en-CH" smtClean="0"/>
              <a:t>30.08.2026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06E9B-8862-9338-2235-F3E6FD057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1BA9C-F21A-3067-8D30-C8BD246B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4453-BB69-F54C-8ABB-B4EE633F3D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31766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419E7-D1FE-BBAE-54B4-33444F045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BF313-8A69-7748-5966-4292ED0D5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94220-C8E2-A437-7B0A-BA01AD9C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13AD-683A-EE46-BD10-28E820CA79F0}" type="datetimeFigureOut">
              <a:rPr lang="en-CH" smtClean="0"/>
              <a:t>30.08.2026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97645-9D81-BA1A-5077-BDBF683F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DA363-AC61-8568-6755-BB440886B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4453-BB69-F54C-8ABB-B4EE633F3D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9489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EB26A5-67F6-B03E-16D1-2CB7C3496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44A88-1BE8-3008-D7FC-8D4CE3E9D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29C11-8352-F958-E649-921A4F6B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13AD-683A-EE46-BD10-28E820CA79F0}" type="datetimeFigureOut">
              <a:rPr lang="en-CH" smtClean="0"/>
              <a:t>30.08.2026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23E8A-2098-8AFD-6A2C-2135AE15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1CBC-70B7-C711-6284-D2785BC9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4453-BB69-F54C-8ABB-B4EE633F3D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5262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2530"/>
            </a:gs>
            <a:gs pos="100000">
              <a:srgbClr val="07131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2C44A3-A620-CE07-E6BC-BF048ED6D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9EEAD-2346-4219-A2FC-2ABA5F061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89FDC-BA69-D8C0-6D2F-339C02E4D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613AD-683A-EE46-BD10-28E820CA79F0}" type="datetimeFigureOut">
              <a:rPr lang="en-CH" smtClean="0"/>
              <a:t>30.08.2026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73544-FC6D-7865-ED6D-A33532077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F23B2-20A6-DF1D-D299-E40F7C87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AA4453-BB69-F54C-8ABB-B4EE633F3D8E}" type="slidenum">
              <a:rPr lang="en-CH" smtClean="0"/>
              <a:t>‹#›</a:t>
            </a:fld>
            <a:endParaRPr lang="en-CH"/>
          </a:p>
        </p:txBody>
      </p:sp>
      <p:sp>
        <p:nvSpPr>
          <p:cNvPr id="91" name="Corner Glow"/>
          <p:cNvSpPr/>
          <p:nvPr/>
        </p:nvSpPr>
        <p:spPr>
          <a:xfrm>
            <a:off x="9906000" y="-457200"/>
            <a:ext cx="2743200" cy="2743200"/>
          </a:xfrm>
          <a:prstGeom prst="ellipse">
            <a:avLst/>
          </a:prstGeom>
          <a:solidFill>
            <a:srgbClr val="1FD1B4">
              <a:alpha val="9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Accent Bar"/>
          <p:cNvSpPr/>
          <p:nvPr/>
        </p:nvSpPr>
        <p:spPr>
          <a:xfrm>
            <a:off x="457200" y="6172200"/>
            <a:ext cx="1371600" cy="45720"/>
          </a:xfrm>
          <a:prstGeom prst="rect">
            <a:avLst/>
          </a:prstGeom>
          <a:solidFill>
            <a:srgbClr val="1FD1B4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48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CE9E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CE9EE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CE9EE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CE9EE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CE9E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CE9EE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CE9EE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CE9EE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CE9EE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C2B9-2C23-8A62-39F0-6FF3374A3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676400"/>
            <a:ext cx="9652000" cy="2946400"/>
          </a:xfrm>
        </p:spPr>
        <p:txBody>
          <a:bodyPr anchor="t"/>
          <a:lstStyle/>
          <a:p>
            <a:pPr algn="l">
              <a:buNone/>
            </a:pPr>
            <a:r>
              <a:rPr lang="en-GB" sz="1500" b="1" spc="300" dirty="0">
                <a:solidFill>
                  <a:srgbClr val="1FD1B4"/>
                </a:solidFill>
              </a:rPr>
              <a:t>●  THORWALLET TEAM OFF-SITE</a:t>
            </a:r>
          </a:p>
          <a:p>
            <a:pPr algn="l">
              <a:lnSpc>
                <a:spcPct val="92000"/>
              </a:lnSpc>
              <a:spcBef>
                <a:spcPts val="800"/>
              </a:spcBef>
              <a:buNone/>
            </a:pPr>
            <a:r>
              <a:rPr lang="en-GB" sz="5400" b="1" dirty="0">
                <a:solidFill>
                  <a:srgbClr val="FFFFFF"/>
                </a:solidFill>
              </a:rPr>
              <a:t>Let’s build</a:t>
            </a:r>
          </a:p>
          <a:p>
            <a:pPr algn="l">
              <a:lnSpc>
                <a:spcPct val="92000"/>
              </a:lnSpc>
              <a:buNone/>
            </a:pPr>
            <a:r>
              <a:rPr lang="en-GB" sz="5400" b="1" dirty="0">
                <a:gradFill>
                  <a:gsLst>
                    <a:gs pos="0">
                      <a:srgbClr val="38B6FF"/>
                    </a:gs>
                    <a:gs pos="55000">
                      <a:srgbClr val="34D6C4"/>
                    </a:gs>
                    <a:gs pos="100000">
                      <a:srgbClr val="1FD1B4"/>
                    </a:gs>
                  </a:gsLst>
                  <a:lin ang="0" scaled="1"/>
                </a:gradFill>
              </a:rPr>
              <a:t>together.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79921-18B7-714A-7216-9A3ADCE35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800600"/>
            <a:ext cx="7874000" cy="1016000"/>
          </a:xfrm>
        </p:spPr>
        <p:txBody>
          <a:bodyPr wrap="square" anchor="t">
            <a:noAutofit/>
          </a:bodyPr>
          <a:lstStyle/>
          <a:p>
            <a:pPr algn="l">
              <a:buNone/>
            </a:pPr>
            <a:r>
              <a:rPr lang="en-GB" sz="1800" dirty="0">
                <a:solidFill>
                  <a:srgbClr val="AEC6D0"/>
                </a:solidFill>
              </a:rPr>
              <a:t>Roadmap, focus themes, and each other.</a:t>
            </a:r>
          </a:p>
        </p:txBody>
      </p:sp>
      <p:sp>
        <p:nvSpPr>
          <p:cNvPr id="120" name="pill"/>
          <p:cNvSpPr/>
          <p:nvPr/>
        </p:nvSpPr>
        <p:spPr>
          <a:xfrm>
            <a:off x="838200" y="6019800"/>
            <a:ext cx="2133600" cy="584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FD1B4">
                <a:alpha val="70000"/>
              </a:srgbClr>
            </a:solidFill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GB" sz="1400" b="1" spc="200" dirty="0">
                <a:solidFill>
                  <a:srgbClr val="1FD1B4"/>
                </a:solidFill>
              </a:rPr>
              <a:t>MON – WED</a:t>
            </a:r>
          </a:p>
        </p:txBody>
      </p:sp>
      <p:sp>
        <p:nvSpPr>
          <p:cNvPr id="121" name="card"/>
          <p:cNvSpPr/>
          <p:nvPr/>
        </p:nvSpPr>
        <p:spPr>
          <a:xfrm rot="-600000">
            <a:off x="7112000" y="1905000"/>
            <a:ext cx="4978400" cy="31496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FF7A3D"/>
              </a:gs>
              <a:gs pos="100000">
                <a:srgbClr val="E0218A"/>
              </a:gs>
            </a:gsLst>
            <a:lin ang="3000000" scaled="1"/>
          </a:gradFill>
          <a:ln>
            <a:noFill/>
          </a:ln>
        </p:spPr>
        <p:txBody>
          <a:bodyPr lIns="137160" tIns="91440" rIns="182880" bIns="137160" anchor="b"/>
          <a:lstStyle/>
          <a:p>
            <a:pPr algn="r">
              <a:buNone/>
            </a:pPr>
            <a:r>
              <a:rPr lang="en-GB" sz="1800" b="1" dirty="0">
                <a:solidFill>
                  <a:srgbClr val="FFFFFF"/>
                </a:solidFill>
              </a:rPr>
              <a:t>THORWallet</a:t>
            </a:r>
          </a:p>
        </p:txBody>
      </p:sp>
      <p:sp>
        <p:nvSpPr>
          <p:cNvPr id="122" name="bolt"/>
          <p:cNvSpPr/>
          <p:nvPr/>
        </p:nvSpPr>
        <p:spPr>
          <a:xfrm rot="-600000">
            <a:off x="8890000" y="2489200"/>
            <a:ext cx="1422400" cy="1905000"/>
          </a:xfrm>
          <a:prstGeom prst="lightningBolt">
            <a:avLst/>
          </a:prstGeom>
          <a:solidFill>
            <a:srgbClr val="C4184F">
              <a:alpha val="4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7679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3183-AEDC-5B5D-6056-12882E362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3600" b="1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00" name="card0"/>
          <p:cNvSpPr/>
          <p:nvPr/>
        </p:nvSpPr>
        <p:spPr>
          <a:xfrm>
            <a:off x="838200" y="2133600"/>
            <a:ext cx="4953000" cy="1219200"/>
          </a:xfrm>
          <a:prstGeom prst="roundRect">
            <a:avLst>
              <a:gd name="adj" fmla="val 8000"/>
            </a:avLst>
          </a:prstGeom>
          <a:solidFill>
            <a:srgbClr val="14303D"/>
          </a:solidFill>
          <a:ln w="12700">
            <a:solidFill>
              <a:srgbClr val="1FD1B4">
                <a:alpha val="3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num0"/>
          <p:cNvSpPr/>
          <p:nvPr/>
        </p:nvSpPr>
        <p:spPr>
          <a:xfrm>
            <a:off x="1066800" y="2387600"/>
            <a:ext cx="711200" cy="711200"/>
          </a:xfrm>
          <a:prstGeom prst="ellipse">
            <a:avLst/>
          </a:prstGeom>
          <a:solidFill>
            <a:srgbClr val="1FD1B4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2000" b="1" dirty="0">
                <a:solidFill>
                  <a:srgbClr val="07131B"/>
                </a:solidFill>
              </a:rPr>
              <a:t>1</a:t>
            </a:r>
          </a:p>
        </p:txBody>
      </p:sp>
      <p:sp>
        <p:nvSpPr>
          <p:cNvPr id="102" name="lbl0"/>
          <p:cNvSpPr/>
          <p:nvPr/>
        </p:nvSpPr>
        <p:spPr>
          <a:xfrm>
            <a:off x="1981200" y="2133600"/>
            <a:ext cx="3632200" cy="1219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GB" sz="1800" b="1" dirty="0">
                <a:solidFill>
                  <a:srgbClr val="F2F7F9"/>
                </a:solidFill>
              </a:rPr>
              <a:t>Schedule: Mon–Wed</a:t>
            </a:r>
          </a:p>
        </p:txBody>
      </p:sp>
      <p:sp>
        <p:nvSpPr>
          <p:cNvPr id="103" name="card1"/>
          <p:cNvSpPr/>
          <p:nvPr/>
        </p:nvSpPr>
        <p:spPr>
          <a:xfrm>
            <a:off x="6400800" y="2133600"/>
            <a:ext cx="4953000" cy="1219200"/>
          </a:xfrm>
          <a:prstGeom prst="roundRect">
            <a:avLst>
              <a:gd name="adj" fmla="val 8000"/>
            </a:avLst>
          </a:prstGeom>
          <a:solidFill>
            <a:srgbClr val="14303D"/>
          </a:solidFill>
          <a:ln w="12700">
            <a:solidFill>
              <a:srgbClr val="1FD1B4">
                <a:alpha val="3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num1"/>
          <p:cNvSpPr/>
          <p:nvPr/>
        </p:nvSpPr>
        <p:spPr>
          <a:xfrm>
            <a:off x="6629400" y="2387600"/>
            <a:ext cx="711200" cy="711200"/>
          </a:xfrm>
          <a:prstGeom prst="ellipse">
            <a:avLst/>
          </a:prstGeom>
          <a:solidFill>
            <a:srgbClr val="1FD1B4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2000" b="1" dirty="0">
                <a:solidFill>
                  <a:srgbClr val="07131B"/>
                </a:solidFill>
              </a:rPr>
              <a:t>2</a:t>
            </a:r>
          </a:p>
        </p:txBody>
      </p:sp>
      <p:sp>
        <p:nvSpPr>
          <p:cNvPr id="105" name="lbl1"/>
          <p:cNvSpPr/>
          <p:nvPr/>
        </p:nvSpPr>
        <p:spPr>
          <a:xfrm>
            <a:off x="7543800" y="2133600"/>
            <a:ext cx="3632200" cy="1219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GB" sz="1800" b="1" dirty="0">
                <a:solidFill>
                  <a:srgbClr val="F2F7F9"/>
                </a:solidFill>
              </a:rPr>
              <a:t>Thorwallet Roadmap Update</a:t>
            </a:r>
          </a:p>
        </p:txBody>
      </p:sp>
      <p:sp>
        <p:nvSpPr>
          <p:cNvPr id="106" name="card2"/>
          <p:cNvSpPr/>
          <p:nvPr/>
        </p:nvSpPr>
        <p:spPr>
          <a:xfrm>
            <a:off x="838200" y="3556000"/>
            <a:ext cx="4953000" cy="1219200"/>
          </a:xfrm>
          <a:prstGeom prst="roundRect">
            <a:avLst>
              <a:gd name="adj" fmla="val 8000"/>
            </a:avLst>
          </a:prstGeom>
          <a:solidFill>
            <a:srgbClr val="14303D"/>
          </a:solidFill>
          <a:ln w="12700">
            <a:solidFill>
              <a:srgbClr val="1FD1B4">
                <a:alpha val="3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num2"/>
          <p:cNvSpPr/>
          <p:nvPr/>
        </p:nvSpPr>
        <p:spPr>
          <a:xfrm>
            <a:off x="1066800" y="3810000"/>
            <a:ext cx="711200" cy="711200"/>
          </a:xfrm>
          <a:prstGeom prst="ellipse">
            <a:avLst/>
          </a:prstGeom>
          <a:solidFill>
            <a:srgbClr val="1FD1B4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2000" b="1" dirty="0">
                <a:solidFill>
                  <a:srgbClr val="07131B"/>
                </a:solidFill>
              </a:rPr>
              <a:t>3</a:t>
            </a:r>
          </a:p>
        </p:txBody>
      </p:sp>
      <p:sp>
        <p:nvSpPr>
          <p:cNvPr id="108" name="lbl2"/>
          <p:cNvSpPr/>
          <p:nvPr/>
        </p:nvSpPr>
        <p:spPr>
          <a:xfrm>
            <a:off x="1981200" y="3556000"/>
            <a:ext cx="3632200" cy="1219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GB" sz="1800" b="1" dirty="0">
                <a:solidFill>
                  <a:srgbClr val="F2F7F9"/>
                </a:solidFill>
              </a:rPr>
              <a:t>MINE</a:t>
            </a:r>
          </a:p>
        </p:txBody>
      </p:sp>
      <p:sp>
        <p:nvSpPr>
          <p:cNvPr id="109" name="card3"/>
          <p:cNvSpPr/>
          <p:nvPr/>
        </p:nvSpPr>
        <p:spPr>
          <a:xfrm>
            <a:off x="6400800" y="3556000"/>
            <a:ext cx="4953000" cy="1219200"/>
          </a:xfrm>
          <a:prstGeom prst="roundRect">
            <a:avLst>
              <a:gd name="adj" fmla="val 8000"/>
            </a:avLst>
          </a:prstGeom>
          <a:solidFill>
            <a:srgbClr val="14303D"/>
          </a:solidFill>
          <a:ln w="12700">
            <a:solidFill>
              <a:srgbClr val="1FD1B4">
                <a:alpha val="3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" name="num3"/>
          <p:cNvSpPr/>
          <p:nvPr/>
        </p:nvSpPr>
        <p:spPr>
          <a:xfrm>
            <a:off x="6629400" y="3810000"/>
            <a:ext cx="711200" cy="711200"/>
          </a:xfrm>
          <a:prstGeom prst="ellipse">
            <a:avLst/>
          </a:prstGeom>
          <a:solidFill>
            <a:srgbClr val="1FD1B4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2000" b="1" dirty="0">
                <a:solidFill>
                  <a:srgbClr val="07131B"/>
                </a:solidFill>
              </a:rPr>
              <a:t>4</a:t>
            </a:r>
          </a:p>
        </p:txBody>
      </p:sp>
      <p:sp>
        <p:nvSpPr>
          <p:cNvPr id="111" name="lbl3"/>
          <p:cNvSpPr/>
          <p:nvPr/>
        </p:nvSpPr>
        <p:spPr>
          <a:xfrm>
            <a:off x="7543800" y="3556000"/>
            <a:ext cx="3632200" cy="1219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GB" sz="1800" b="1" dirty="0">
                <a:solidFill>
                  <a:srgbClr val="F2F7F9"/>
                </a:solidFill>
              </a:rPr>
              <a:t>Focus Theme: AI</a:t>
            </a:r>
          </a:p>
        </p:txBody>
      </p:sp>
      <p:sp>
        <p:nvSpPr>
          <p:cNvPr id="112" name="card4"/>
          <p:cNvSpPr/>
          <p:nvPr/>
        </p:nvSpPr>
        <p:spPr>
          <a:xfrm>
            <a:off x="838200" y="4978400"/>
            <a:ext cx="4953000" cy="1219200"/>
          </a:xfrm>
          <a:prstGeom prst="roundRect">
            <a:avLst>
              <a:gd name="adj" fmla="val 8000"/>
            </a:avLst>
          </a:prstGeom>
          <a:solidFill>
            <a:srgbClr val="14303D"/>
          </a:solidFill>
          <a:ln w="12700">
            <a:solidFill>
              <a:srgbClr val="1FD1B4">
                <a:alpha val="3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num4"/>
          <p:cNvSpPr/>
          <p:nvPr/>
        </p:nvSpPr>
        <p:spPr>
          <a:xfrm>
            <a:off x="1066800" y="5232400"/>
            <a:ext cx="711200" cy="711200"/>
          </a:xfrm>
          <a:prstGeom prst="ellipse">
            <a:avLst/>
          </a:prstGeom>
          <a:solidFill>
            <a:srgbClr val="1FD1B4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2000" b="1" dirty="0">
                <a:solidFill>
                  <a:srgbClr val="07131B"/>
                </a:solidFill>
              </a:rPr>
              <a:t>5</a:t>
            </a:r>
          </a:p>
        </p:txBody>
      </p:sp>
      <p:sp>
        <p:nvSpPr>
          <p:cNvPr id="114" name="lbl4"/>
          <p:cNvSpPr/>
          <p:nvPr/>
        </p:nvSpPr>
        <p:spPr>
          <a:xfrm>
            <a:off x="1981200" y="4978400"/>
            <a:ext cx="3632200" cy="1219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GB" sz="1800" b="1" dirty="0">
                <a:solidFill>
                  <a:srgbClr val="F2F7F9"/>
                </a:solidFill>
              </a:rPr>
              <a:t>Focus Theme: Last Mile</a:t>
            </a:r>
          </a:p>
        </p:txBody>
      </p:sp>
      <p:sp>
        <p:nvSpPr>
          <p:cNvPr id="115" name="card5"/>
          <p:cNvSpPr/>
          <p:nvPr/>
        </p:nvSpPr>
        <p:spPr>
          <a:xfrm>
            <a:off x="6400800" y="4978400"/>
            <a:ext cx="4953000" cy="1219200"/>
          </a:xfrm>
          <a:prstGeom prst="roundRect">
            <a:avLst>
              <a:gd name="adj" fmla="val 8000"/>
            </a:avLst>
          </a:prstGeom>
          <a:solidFill>
            <a:srgbClr val="14303D"/>
          </a:solidFill>
          <a:ln w="12700">
            <a:solidFill>
              <a:srgbClr val="1FD1B4">
                <a:alpha val="3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6" name="num5"/>
          <p:cNvSpPr/>
          <p:nvPr/>
        </p:nvSpPr>
        <p:spPr>
          <a:xfrm>
            <a:off x="6629400" y="5232400"/>
            <a:ext cx="711200" cy="711200"/>
          </a:xfrm>
          <a:prstGeom prst="ellipse">
            <a:avLst/>
          </a:prstGeom>
          <a:solidFill>
            <a:srgbClr val="1FD1B4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2000" b="1" dirty="0">
                <a:solidFill>
                  <a:srgbClr val="07131B"/>
                </a:solidFill>
              </a:rPr>
              <a:t>6</a:t>
            </a:r>
          </a:p>
        </p:txBody>
      </p:sp>
      <p:sp>
        <p:nvSpPr>
          <p:cNvPr id="117" name="lbl5"/>
          <p:cNvSpPr/>
          <p:nvPr/>
        </p:nvSpPr>
        <p:spPr>
          <a:xfrm>
            <a:off x="7543800" y="4978400"/>
            <a:ext cx="3632200" cy="1219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GB" sz="1800" b="1" dirty="0">
                <a:solidFill>
                  <a:srgbClr val="F2F7F9"/>
                </a:solidFill>
              </a:rPr>
              <a:t>Focus: 1:1</a:t>
            </a:r>
          </a:p>
        </p:txBody>
      </p:sp>
    </p:spTree>
    <p:extLst>
      <p:ext uri="{BB962C8B-B14F-4D97-AF65-F5344CB8AC3E}">
        <p14:creationId xmlns:p14="http://schemas.microsoft.com/office/powerpoint/2010/main" val="60794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53C5-9047-4502-C5D4-4614406E4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3600" b="1" dirty="0">
                <a:solidFill>
                  <a:srgbClr val="FFFFFF"/>
                </a:solidFill>
              </a:rPr>
              <a:t>Schedule</a:t>
            </a:r>
            <a:r>
              <a:rPr lang="en-GB" sz="3600" b="1" dirty="0">
                <a:solidFill>
                  <a:srgbClr val="1FD1B4"/>
                </a:solidFill>
              </a:rPr>
              <a:t> Mon–Wed</a:t>
            </a:r>
          </a:p>
        </p:txBody>
      </p:sp>
      <p:sp>
        <p:nvSpPr>
          <p:cNvPr id="100" name="hdr0"/>
          <p:cNvSpPr/>
          <p:nvPr/>
        </p:nvSpPr>
        <p:spPr>
          <a:xfrm>
            <a:off x="838200" y="1905000"/>
            <a:ext cx="3505200" cy="1168400"/>
          </a:xfrm>
          <a:prstGeom prst="roundRect">
            <a:avLst>
              <a:gd name="adj" fmla="val 12000"/>
            </a:avLst>
          </a:prstGeom>
          <a:solidFill>
            <a:srgbClr val="1FD1B4"/>
          </a:solidFill>
          <a:ln>
            <a:noFill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en-GB" sz="1200" b="1" spc="400" dirty="0">
                <a:solidFill>
                  <a:srgbClr val="0A1A24"/>
                </a:solidFill>
              </a:rPr>
              <a:t>DAY 1</a:t>
            </a:r>
          </a:p>
          <a:p>
            <a:pPr>
              <a:buNone/>
            </a:pPr>
            <a:r>
              <a:rPr lang="en-GB" sz="2200" b="1" dirty="0">
                <a:solidFill>
                  <a:srgbClr val="07131B"/>
                </a:solidFill>
              </a:rPr>
              <a:t>Monday</a:t>
            </a:r>
          </a:p>
          <a:p>
            <a:pPr>
              <a:buNone/>
            </a:pPr>
            <a:r>
              <a:rPr lang="en-GB" sz="1300" dirty="0">
                <a:solidFill>
                  <a:srgbClr val="0A1A24"/>
                </a:solidFill>
              </a:rPr>
              <a:t>Kick-off &amp; Roadmap</a:t>
            </a:r>
          </a:p>
        </p:txBody>
      </p:sp>
      <p:sp>
        <p:nvSpPr>
          <p:cNvPr id="101" name="body0"/>
          <p:cNvSpPr/>
          <p:nvPr/>
        </p:nvSpPr>
        <p:spPr>
          <a:xfrm>
            <a:off x="838200" y="3225800"/>
            <a:ext cx="3505200" cy="3530600"/>
          </a:xfrm>
          <a:prstGeom prst="roundRect">
            <a:avLst>
              <a:gd name="adj" fmla="val 5000"/>
            </a:avLst>
          </a:prstGeom>
          <a:solidFill>
            <a:srgbClr val="14303D"/>
          </a:solidFill>
          <a:ln w="12700">
            <a:solidFill>
              <a:srgbClr val="1FD1B4">
                <a:alpha val="50000"/>
              </a:srgbClr>
            </a:solidFill>
          </a:ln>
        </p:spPr>
        <p:txBody>
          <a:bodyPr lIns="182880" tIns="137160" rIns="137160" bIns="137160" anchor="ctr"/>
          <a:lstStyle/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Welcome &amp; goals</a:t>
            </a:r>
          </a:p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Thorwallet Roadmap update</a:t>
            </a:r>
          </a:p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MINE</a:t>
            </a:r>
          </a:p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Working sessions</a:t>
            </a:r>
          </a:p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Group activity 5-6:30pm</a:t>
            </a:r>
          </a:p>
        </p:txBody>
      </p:sp>
      <p:sp>
        <p:nvSpPr>
          <p:cNvPr id="102" name="hdr1"/>
          <p:cNvSpPr/>
          <p:nvPr/>
        </p:nvSpPr>
        <p:spPr>
          <a:xfrm>
            <a:off x="4597400" y="1905000"/>
            <a:ext cx="3505200" cy="1168400"/>
          </a:xfrm>
          <a:prstGeom prst="roundRect">
            <a:avLst>
              <a:gd name="adj" fmla="val 12000"/>
            </a:avLst>
          </a:prstGeom>
          <a:solidFill>
            <a:srgbClr val="38B6FF"/>
          </a:solidFill>
          <a:ln>
            <a:noFill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en-GB" sz="1200" b="1" spc="400" dirty="0">
                <a:solidFill>
                  <a:srgbClr val="0A1A24"/>
                </a:solidFill>
              </a:rPr>
              <a:t>DAY 2</a:t>
            </a:r>
          </a:p>
          <a:p>
            <a:pPr>
              <a:buNone/>
            </a:pPr>
            <a:r>
              <a:rPr lang="en-GB" sz="2200" b="1" dirty="0">
                <a:solidFill>
                  <a:srgbClr val="07131B"/>
                </a:solidFill>
              </a:rPr>
              <a:t>Tuesday</a:t>
            </a:r>
          </a:p>
          <a:p>
            <a:pPr>
              <a:buNone/>
            </a:pPr>
            <a:r>
              <a:rPr lang="en-GB" sz="1300" dirty="0">
                <a:solidFill>
                  <a:srgbClr val="0A1A24"/>
                </a:solidFill>
              </a:rPr>
              <a:t>Focus Themes</a:t>
            </a:r>
          </a:p>
        </p:txBody>
      </p:sp>
      <p:sp>
        <p:nvSpPr>
          <p:cNvPr id="103" name="body1"/>
          <p:cNvSpPr/>
          <p:nvPr/>
        </p:nvSpPr>
        <p:spPr>
          <a:xfrm>
            <a:off x="4597400" y="3225800"/>
            <a:ext cx="3505200" cy="3530600"/>
          </a:xfrm>
          <a:prstGeom prst="roundRect">
            <a:avLst>
              <a:gd name="adj" fmla="val 5000"/>
            </a:avLst>
          </a:prstGeom>
          <a:solidFill>
            <a:srgbClr val="14303D"/>
          </a:solidFill>
          <a:ln w="12700">
            <a:solidFill>
              <a:srgbClr val="38B6FF">
                <a:alpha val="50000"/>
              </a:srgbClr>
            </a:solidFill>
          </a:ln>
        </p:spPr>
        <p:txBody>
          <a:bodyPr lIns="182880" tIns="137160" rIns="137160" bIns="137160" anchor="ctr"/>
          <a:lstStyle/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Focus Theme: AI</a:t>
            </a:r>
          </a:p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Focus Theme: Last Mile</a:t>
            </a:r>
          </a:p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Focus: 1:1s</a:t>
            </a:r>
          </a:p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Working sessions</a:t>
            </a:r>
          </a:p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Team Dinner - Illuminarium</a:t>
            </a:r>
          </a:p>
        </p:txBody>
      </p:sp>
      <p:sp>
        <p:nvSpPr>
          <p:cNvPr id="104" name="hdr2"/>
          <p:cNvSpPr/>
          <p:nvPr/>
        </p:nvSpPr>
        <p:spPr>
          <a:xfrm>
            <a:off x="8356600" y="1905000"/>
            <a:ext cx="3505200" cy="1168400"/>
          </a:xfrm>
          <a:prstGeom prst="roundRect">
            <a:avLst>
              <a:gd name="adj" fmla="val 12000"/>
            </a:avLst>
          </a:prstGeom>
          <a:solidFill>
            <a:srgbClr val="9B8CFF"/>
          </a:solidFill>
          <a:ln>
            <a:noFill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en-GB" sz="1200" b="1" spc="400" dirty="0">
                <a:solidFill>
                  <a:srgbClr val="0A1A24"/>
                </a:solidFill>
              </a:rPr>
              <a:t>DAY 3</a:t>
            </a:r>
          </a:p>
          <a:p>
            <a:pPr>
              <a:buNone/>
            </a:pPr>
            <a:r>
              <a:rPr lang="en-GB" sz="2200" b="1" dirty="0">
                <a:solidFill>
                  <a:srgbClr val="07131B"/>
                </a:solidFill>
              </a:rPr>
              <a:t>Wednesday</a:t>
            </a:r>
          </a:p>
          <a:p>
            <a:pPr>
              <a:buNone/>
            </a:pPr>
            <a:r>
              <a:rPr lang="en-GB" sz="1300" dirty="0">
                <a:solidFill>
                  <a:srgbClr val="0A1A24"/>
                </a:solidFill>
              </a:rPr>
              <a:t>People &amp; Wrap-up</a:t>
            </a:r>
          </a:p>
        </p:txBody>
      </p:sp>
      <p:sp>
        <p:nvSpPr>
          <p:cNvPr id="105" name="body2"/>
          <p:cNvSpPr/>
          <p:nvPr/>
        </p:nvSpPr>
        <p:spPr>
          <a:xfrm>
            <a:off x="8356600" y="3225800"/>
            <a:ext cx="3505200" cy="3530600"/>
          </a:xfrm>
          <a:prstGeom prst="roundRect">
            <a:avLst>
              <a:gd name="adj" fmla="val 5000"/>
            </a:avLst>
          </a:prstGeom>
          <a:solidFill>
            <a:srgbClr val="14303D"/>
          </a:solidFill>
          <a:ln w="12700">
            <a:solidFill>
              <a:srgbClr val="9B8CFF">
                <a:alpha val="50000"/>
              </a:srgbClr>
            </a:solidFill>
          </a:ln>
        </p:spPr>
        <p:txBody>
          <a:bodyPr lIns="182880" tIns="137160" rIns="137160" bIns="137160" anchor="ctr"/>
          <a:lstStyle/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Focus: 1:1s</a:t>
            </a:r>
          </a:p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Working sessions</a:t>
            </a:r>
          </a:p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Action items &amp; owners</a:t>
            </a:r>
          </a:p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Retro &amp; feedback</a:t>
            </a:r>
          </a:p>
          <a:p>
            <a:pPr marL="200025" indent="-200025">
              <a:spcBef>
                <a:spcPts val="800"/>
              </a:spcBef>
              <a:spcAft>
                <a:spcPts val="8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600" dirty="0">
                <a:solidFill>
                  <a:srgbClr val="DCE9EE"/>
                </a:solidFill>
              </a:rPr>
              <a:t>Close-out</a:t>
            </a:r>
          </a:p>
        </p:txBody>
      </p:sp>
    </p:spTree>
    <p:extLst>
      <p:ext uri="{BB962C8B-B14F-4D97-AF65-F5344CB8AC3E}">
        <p14:creationId xmlns:p14="http://schemas.microsoft.com/office/powerpoint/2010/main" val="1984394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AC872-CCBA-1BDC-56A7-B64AF5F3D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GB" b="1" dirty="0">
                <a:solidFill>
                  <a:srgbClr val="FFFFFF"/>
                </a:solidFill>
              </a:rPr>
              <a:t>Thorwallet </a:t>
            </a:r>
            <a:r>
              <a:rPr lang="en-GB" b="1" dirty="0">
                <a:gradFill>
                  <a:gsLst>
                    <a:gs pos="0">
                      <a:srgbClr val="38B6FF"/>
                    </a:gs>
                    <a:gs pos="55000">
                      <a:srgbClr val="34D6C4"/>
                    </a:gs>
                    <a:gs pos="100000">
                      <a:srgbClr val="1FD1B4"/>
                    </a:gs>
                  </a:gsLst>
                  <a:lin ang="0" scaled="1"/>
                </a:gradFill>
              </a:rPr>
              <a:t>Roadmap</a:t>
            </a:r>
          </a:p>
        </p:txBody>
      </p:sp>
      <p:sp>
        <p:nvSpPr>
          <p:cNvPr id="100" name="pill0"/>
          <p:cNvSpPr/>
          <p:nvPr/>
        </p:nvSpPr>
        <p:spPr>
          <a:xfrm>
            <a:off x="838200" y="2159000"/>
            <a:ext cx="3505200" cy="812800"/>
          </a:xfrm>
          <a:prstGeom prst="roundRect">
            <a:avLst>
              <a:gd name="adj" fmla="val 20000"/>
            </a:avLst>
          </a:prstGeom>
          <a:solidFill>
            <a:srgbClr val="1FD1B4"/>
          </a:solidFill>
          <a:ln w="12700">
            <a:noFill/>
          </a:ln>
        </p:spPr>
        <p:txBody>
          <a:bodyPr lIns="137160" tIns="27360" rIns="137160" bIns="27360" anchor="ctr"/>
          <a:lstStyle/>
          <a:p>
            <a:pPr algn="ctr">
              <a:buNone/>
            </a:pPr>
            <a:r>
              <a:rPr lang="en-GB" sz="1400" b="1" spc="150" dirty="0">
                <a:solidFill>
                  <a:srgbClr val="07131B"/>
                </a:solidFill>
              </a:rPr>
              <a:t>WHERE WE STAND</a:t>
            </a:r>
          </a:p>
        </p:txBody>
      </p:sp>
      <p:sp>
        <p:nvSpPr>
          <p:cNvPr id="101" name="rbody0"/>
          <p:cNvSpPr/>
          <p:nvPr/>
        </p:nvSpPr>
        <p:spPr>
          <a:xfrm>
            <a:off x="838200" y="3149600"/>
            <a:ext cx="3505200" cy="3175000"/>
          </a:xfrm>
          <a:prstGeom prst="roundRect">
            <a:avLst>
              <a:gd name="adj" fmla="val 5000"/>
            </a:avLst>
          </a:prstGeom>
          <a:solidFill>
            <a:srgbClr val="14303D"/>
          </a:solidFill>
          <a:ln w="12700">
            <a:solidFill>
              <a:srgbClr val="1FD1B4">
                <a:alpha val="45000"/>
              </a:srgbClr>
            </a:solidFill>
          </a:ln>
        </p:spPr>
        <p:txBody>
          <a:bodyPr lIns="137160" tIns="137160" rIns="137160" bIns="137160" anchor="ctr"/>
          <a:lstStyle/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Closing in on a genuine top-5 wallet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Recognised as an OG wallet — earned trust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Market consolidating as peers fade (CTRL, Leap)</a:t>
            </a:r>
          </a:p>
        </p:txBody>
      </p:sp>
      <p:sp>
        <p:nvSpPr>
          <p:cNvPr id="102" name="pill1"/>
          <p:cNvSpPr/>
          <p:nvPr/>
        </p:nvSpPr>
        <p:spPr>
          <a:xfrm>
            <a:off x="4597400" y="2159000"/>
            <a:ext cx="3505200" cy="812800"/>
          </a:xfrm>
          <a:prstGeom prst="roundRect">
            <a:avLst>
              <a:gd name="adj" fmla="val 20000"/>
            </a:avLst>
          </a:prstGeom>
          <a:solidFill>
            <a:srgbClr val="38B6FF"/>
          </a:solidFill>
          <a:ln w="12700">
            <a:noFill/>
          </a:ln>
        </p:spPr>
        <p:txBody>
          <a:bodyPr lIns="137160" tIns="27360" rIns="137160" bIns="27360" anchor="ctr"/>
          <a:lstStyle/>
          <a:p>
            <a:pPr algn="ctr">
              <a:buNone/>
            </a:pPr>
            <a:r>
              <a:rPr lang="en-GB" sz="1400" b="1" spc="150" dirty="0">
                <a:solidFill>
                  <a:srgbClr val="07131B"/>
                </a:solidFill>
              </a:rPr>
              <a:t>WHAT WE’RE DRIVING</a:t>
            </a:r>
          </a:p>
        </p:txBody>
      </p:sp>
      <p:sp>
        <p:nvSpPr>
          <p:cNvPr id="103" name="rbody1"/>
          <p:cNvSpPr/>
          <p:nvPr/>
        </p:nvSpPr>
        <p:spPr>
          <a:xfrm>
            <a:off x="4597400" y="3149600"/>
            <a:ext cx="3505200" cy="3175000"/>
          </a:xfrm>
          <a:prstGeom prst="roundRect">
            <a:avLst>
              <a:gd name="adj" fmla="val 5000"/>
            </a:avLst>
          </a:prstGeom>
          <a:solidFill>
            <a:srgbClr val="14303D"/>
          </a:solidFill>
          <a:ln w="12700">
            <a:solidFill>
              <a:srgbClr val="38B6FF">
                <a:alpha val="45000"/>
              </a:srgbClr>
            </a:solidFill>
          </a:ln>
        </p:spPr>
        <p:txBody>
          <a:bodyPr lIns="137160" tIns="137160" rIns="137160" bIns="137160" anchor="ctr"/>
          <a:lstStyle/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Finishing the hard last 10% (led by Pedro)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Embedding AI wherever it drives efficiency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Security as a non-negotiable</a:t>
            </a:r>
          </a:p>
        </p:txBody>
      </p:sp>
      <p:sp>
        <p:nvSpPr>
          <p:cNvPr id="104" name="pill2"/>
          <p:cNvSpPr/>
          <p:nvPr/>
        </p:nvSpPr>
        <p:spPr>
          <a:xfrm>
            <a:off x="8356600" y="2159000"/>
            <a:ext cx="3505200" cy="812800"/>
          </a:xfrm>
          <a:prstGeom prst="roundRect">
            <a:avLst>
              <a:gd name="adj" fmla="val 20000"/>
            </a:avLst>
          </a:prstGeom>
          <a:solidFill>
            <a:srgbClr val="9B8CFF"/>
          </a:solidFill>
          <a:ln w="12700">
            <a:noFill/>
          </a:ln>
        </p:spPr>
        <p:txBody>
          <a:bodyPr lIns="137160" tIns="27360" rIns="137160" bIns="27360" anchor="ctr"/>
          <a:lstStyle/>
          <a:p>
            <a:pPr algn="ctr">
              <a:buNone/>
            </a:pPr>
            <a:r>
              <a:rPr lang="en-GB" sz="1400" b="1" spc="150" dirty="0">
                <a:solidFill>
                  <a:srgbClr val="07131B"/>
                </a:solidFill>
              </a:rPr>
              <a:t>HOW WE WIN</a:t>
            </a:r>
          </a:p>
        </p:txBody>
      </p:sp>
      <p:sp>
        <p:nvSpPr>
          <p:cNvPr id="105" name="rbody2"/>
          <p:cNvSpPr/>
          <p:nvPr/>
        </p:nvSpPr>
        <p:spPr>
          <a:xfrm>
            <a:off x="8356600" y="3149600"/>
            <a:ext cx="3505200" cy="3175000"/>
          </a:xfrm>
          <a:prstGeom prst="roundRect">
            <a:avLst>
              <a:gd name="adj" fmla="val 5000"/>
            </a:avLst>
          </a:prstGeom>
          <a:solidFill>
            <a:srgbClr val="14303D"/>
          </a:solidFill>
          <a:ln w="12700">
            <a:solidFill>
              <a:srgbClr val="9B8CFF">
                <a:alpha val="45000"/>
              </a:srgbClr>
            </a:solidFill>
          </a:ln>
        </p:spPr>
        <p:txBody>
          <a:bodyPr lIns="137160" tIns="137160" rIns="137160" bIns="137160" anchor="ctr"/>
          <a:lstStyle/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Swap as our core revenue engine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Card as the second pillar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No shortcuts — every feature works, every time</a:t>
            </a:r>
          </a:p>
        </p:txBody>
      </p:sp>
    </p:spTree>
    <p:extLst>
      <p:ext uri="{BB962C8B-B14F-4D97-AF65-F5344CB8AC3E}">
        <p14:creationId xmlns:p14="http://schemas.microsoft.com/office/powerpoint/2010/main" val="2883669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EEE4"/>
              </a:gs>
              <a:gs pos="100000">
                <a:srgbClr val="EAE3D5"/>
              </a:gs>
            </a:gsLst>
            <a:lin ang="42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072A33-19D3-13E2-477A-1510BE37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1066800"/>
            <a:ext cx="10668000" cy="1905000"/>
          </a:xfrm>
        </p:spPr>
        <p:txBody>
          <a:bodyPr anchor="t"/>
          <a:lstStyle/>
          <a:p>
            <a:pPr algn="l">
              <a:lnSpc>
                <a:spcPct val="94000"/>
              </a:lnSpc>
              <a:buNone/>
            </a:pPr>
            <a:r>
              <a:rPr lang="en-GB" sz="4000" b="1" dirty="0">
                <a:solidFill>
                  <a:srgbClr val="1C1C1A"/>
                </a:solidFill>
              </a:rPr>
              <a:t>MINE:</a:t>
            </a:r>
          </a:p>
          <a:p>
            <a:pPr algn="l">
              <a:lnSpc>
                <a:spcPct val="94000"/>
              </a:lnSpc>
              <a:buNone/>
            </a:pPr>
            <a:r>
              <a:rPr lang="en-GB" sz="4000" b="1" dirty="0">
                <a:gradFill>
                  <a:gsLst>
                    <a:gs pos="0">
                      <a:srgbClr val="3E7B4E"/>
                    </a:gs>
                    <a:gs pos="45000">
                      <a:srgbClr val="C79A3A"/>
                    </a:gs>
                    <a:gs pos="100000">
                      <a:srgbClr val="C24631"/>
                    </a:gs>
                  </a:gsLst>
                  <a:lin ang="0" scaled="1"/>
                </a:gradFill>
              </a:rPr>
              <a:t>an AI-first lab.</a:t>
            </a:r>
          </a:p>
        </p:txBody>
      </p:sp>
      <p:sp>
        <p:nvSpPr>
          <p:cNvPr id="80" name="framing"/>
          <p:cNvSpPr/>
          <p:nvPr/>
        </p:nvSpPr>
        <p:spPr>
          <a:xfrm>
            <a:off x="762000" y="2946400"/>
            <a:ext cx="6350000" cy="635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>
              <a:buNone/>
            </a:pPr>
            <a:r>
              <a:rPr lang="en-GB" sz="1600" dirty="0">
                <a:solidFill>
                  <a:srgbClr val="45443E"/>
                </a:solidFill>
              </a:rPr>
              <a:t>A simple, self-custody money app for fintech users who don’t know crypto or gas — and our fastest way to test ideas.</a:t>
            </a:r>
          </a:p>
        </p:txBody>
      </p:sp>
      <p:sp>
        <p:nvSpPr>
          <p:cNvPr id="100" name="c0"/>
          <p:cNvSpPr/>
          <p:nvPr/>
        </p:nvSpPr>
        <p:spPr>
          <a:xfrm>
            <a:off x="838200" y="3810000"/>
            <a:ext cx="3505200" cy="248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DACB"/>
            </a:solidFill>
          </a:ln>
        </p:spPr>
        <p:txBody>
          <a:bodyPr lIns="137160" tIns="137160" rIns="137160" bIns="137160" anchor="t"/>
          <a:lstStyle/>
          <a:p>
            <a:pPr>
              <a:spcAft>
                <a:spcPts val="600"/>
              </a:spcAft>
              <a:buNone/>
            </a:pPr>
            <a:r>
              <a:rPr lang="en-GB" sz="1700" b="1" dirty="0">
                <a:solidFill>
                  <a:srgbClr val="1C1C1A"/>
                </a:solidFill>
              </a:rPr>
              <a:t>What it is</a:t>
            </a:r>
          </a:p>
          <a:p>
            <a:pPr marL="228600" indent="-228600">
              <a:spcBef>
                <a:spcPts val="600"/>
              </a:spcBef>
              <a:buClr>
                <a:srgbClr val="3E7B4E"/>
              </a:buClr>
              <a:buFont typeface="Arial"/>
              <a:buChar char="✓"/>
            </a:pPr>
            <a:r>
              <a:rPr lang="en-GB" sz="1400" dirty="0">
                <a:solidFill>
                  <a:srgbClr val="45443E"/>
                </a:solidFill>
              </a:rPr>
              <a:t>AI-first test app</a:t>
            </a:r>
          </a:p>
          <a:p>
            <a:pPr marL="228600" indent="-228600">
              <a:spcBef>
                <a:spcPts val="600"/>
              </a:spcBef>
              <a:buClr>
                <a:srgbClr val="3E7B4E"/>
              </a:buClr>
              <a:buFont typeface="Arial"/>
              <a:buChar char="✓"/>
            </a:pPr>
            <a:r>
              <a:rPr lang="en-GB" sz="1400" dirty="0">
                <a:solidFill>
                  <a:srgbClr val="45443E"/>
                </a:solidFill>
              </a:rPr>
              <a:t>Branding ready from day one</a:t>
            </a:r>
          </a:p>
          <a:p>
            <a:pPr marL="228600" indent="-228600">
              <a:spcBef>
                <a:spcPts val="600"/>
              </a:spcBef>
              <a:buClr>
                <a:srgbClr val="3E7B4E"/>
              </a:buClr>
              <a:buFont typeface="Arial"/>
              <a:buChar char="✓"/>
            </a:pPr>
            <a:r>
              <a:rPr lang="en-GB" sz="1400" dirty="0">
                <a:solidFill>
                  <a:srgbClr val="45443E"/>
                </a:solidFill>
              </a:rPr>
              <a:t>Deliberately a “simple version”</a:t>
            </a:r>
          </a:p>
        </p:txBody>
      </p:sp>
      <p:sp>
        <p:nvSpPr>
          <p:cNvPr id="101" name="c1"/>
          <p:cNvSpPr/>
          <p:nvPr/>
        </p:nvSpPr>
        <p:spPr>
          <a:xfrm>
            <a:off x="4597400" y="3810000"/>
            <a:ext cx="3505200" cy="248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DACB"/>
            </a:solidFill>
          </a:ln>
        </p:spPr>
        <p:txBody>
          <a:bodyPr lIns="137160" tIns="137160" rIns="137160" bIns="137160" anchor="t"/>
          <a:lstStyle/>
          <a:p>
            <a:pPr>
              <a:spcAft>
                <a:spcPts val="600"/>
              </a:spcAft>
              <a:buNone/>
            </a:pPr>
            <a:r>
              <a:rPr lang="en-GB" sz="1700" b="1" dirty="0">
                <a:solidFill>
                  <a:srgbClr val="1C1C1A"/>
                </a:solidFill>
              </a:rPr>
              <a:t>Why it exists</a:t>
            </a:r>
          </a:p>
          <a:p>
            <a:pPr marL="228600" indent="-228600">
              <a:spcBef>
                <a:spcPts val="600"/>
              </a:spcBef>
              <a:buClr>
                <a:srgbClr val="3E7B4E"/>
              </a:buClr>
              <a:buFont typeface="Arial"/>
              <a:buChar char="✓"/>
            </a:pPr>
            <a:r>
              <a:rPr lang="en-GB" sz="1400" dirty="0">
                <a:solidFill>
                  <a:srgbClr val="45443E"/>
                </a:solidFill>
              </a:rPr>
              <a:t>Fewer users &amp; dependencies</a:t>
            </a:r>
          </a:p>
          <a:p>
            <a:pPr marL="228600" indent="-228600">
              <a:spcBef>
                <a:spcPts val="600"/>
              </a:spcBef>
              <a:buClr>
                <a:srgbClr val="3E7B4E"/>
              </a:buClr>
              <a:buFont typeface="Arial"/>
              <a:buChar char="✓"/>
            </a:pPr>
            <a:r>
              <a:rPr lang="en-GB" sz="1400" dirty="0">
                <a:solidFill>
                  <a:srgbClr val="45443E"/>
                </a:solidFill>
              </a:rPr>
              <a:t>AI ships cheaper with Swift</a:t>
            </a:r>
          </a:p>
          <a:p>
            <a:pPr marL="228600" indent="-228600">
              <a:spcBef>
                <a:spcPts val="600"/>
              </a:spcBef>
              <a:buClr>
                <a:srgbClr val="3E7B4E"/>
              </a:buClr>
              <a:buFont typeface="Arial"/>
              <a:buChar char="✓"/>
            </a:pPr>
            <a:r>
              <a:rPr lang="en-GB" sz="1400" dirty="0">
                <a:solidFill>
                  <a:srgbClr val="45443E"/>
                </a:solidFill>
              </a:rPr>
              <a:t>Fintech-first, crypto-invisible</a:t>
            </a:r>
          </a:p>
          <a:p>
            <a:pPr marL="228600" indent="-228600">
              <a:spcBef>
                <a:spcPts val="600"/>
              </a:spcBef>
              <a:buClr>
                <a:srgbClr val="3E7B4E"/>
              </a:buClr>
              <a:buFont typeface="Arial"/>
              <a:buChar char="✓"/>
            </a:pPr>
            <a:r>
              <a:rPr lang="en-GB" sz="1400" dirty="0">
                <a:solidFill>
                  <a:srgbClr val="45443E"/>
                </a:solidFill>
              </a:rPr>
              <a:t>Card first approach</a:t>
            </a:r>
          </a:p>
        </p:txBody>
      </p:sp>
      <p:sp>
        <p:nvSpPr>
          <p:cNvPr id="102" name="c2"/>
          <p:cNvSpPr/>
          <p:nvPr/>
        </p:nvSpPr>
        <p:spPr>
          <a:xfrm>
            <a:off x="8356600" y="3810000"/>
            <a:ext cx="3505200" cy="248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DACB"/>
            </a:solidFill>
          </a:ln>
        </p:spPr>
        <p:txBody>
          <a:bodyPr lIns="137160" tIns="137160" rIns="137160" bIns="137160" anchor="t"/>
          <a:lstStyle/>
          <a:p>
            <a:pPr>
              <a:spcAft>
                <a:spcPts val="600"/>
              </a:spcAft>
              <a:buNone/>
            </a:pPr>
            <a:r>
              <a:rPr lang="en-GB" sz="1700" b="1" dirty="0">
                <a:solidFill>
                  <a:srgbClr val="1C1C1A"/>
                </a:solidFill>
              </a:rPr>
              <a:t>Early traction</a:t>
            </a:r>
          </a:p>
          <a:p>
            <a:pPr marL="228600" indent="-228600">
              <a:spcBef>
                <a:spcPts val="600"/>
              </a:spcBef>
              <a:buClr>
                <a:srgbClr val="3E7B4E"/>
              </a:buClr>
              <a:buFont typeface="Arial"/>
              <a:buChar char="✓"/>
            </a:pPr>
            <a:r>
              <a:rPr lang="en-GB" sz="1400" dirty="0">
                <a:solidFill>
                  <a:srgbClr val="45443E"/>
                </a:solidFill>
              </a:rPr>
              <a:t>~6K unique visitors / month</a:t>
            </a:r>
          </a:p>
          <a:p>
            <a:pPr marL="228600" indent="-228600">
              <a:spcBef>
                <a:spcPts val="600"/>
              </a:spcBef>
              <a:buClr>
                <a:srgbClr val="3E7B4E"/>
              </a:buClr>
              <a:buFont typeface="Arial"/>
              <a:buChar char="✓"/>
            </a:pPr>
            <a:r>
              <a:rPr lang="en-GB" sz="1400" dirty="0">
                <a:solidFill>
                  <a:srgbClr val="45443E"/>
                </a:solidFill>
              </a:rPr>
              <a:t>700 organic downloads</a:t>
            </a:r>
          </a:p>
          <a:p>
            <a:pPr marL="228600" indent="-228600">
              <a:spcBef>
                <a:spcPts val="600"/>
              </a:spcBef>
              <a:buClr>
                <a:srgbClr val="3E7B4E"/>
              </a:buClr>
              <a:buFont typeface="Arial"/>
              <a:buChar char="✓"/>
            </a:pPr>
            <a:r>
              <a:rPr lang="en-GB" sz="1400" dirty="0">
                <a:solidFill>
                  <a:srgbClr val="45443E"/>
                </a:solidFill>
              </a:rPr>
              <a:t>Mostly new users — not from Thorwallet</a:t>
            </a:r>
          </a:p>
        </p:txBody>
      </p:sp>
      <p:sp>
        <p:nvSpPr>
          <p:cNvPr id="201" name="eyebrow"/>
          <p:cNvSpPr/>
          <p:nvPr/>
        </p:nvSpPr>
        <p:spPr>
          <a:xfrm>
            <a:off x="762000" y="584200"/>
            <a:ext cx="7112000" cy="381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>
              <a:buNone/>
            </a:pPr>
            <a:r>
              <a:rPr lang="en-GB" sz="1400" b="1" spc="300" dirty="0">
                <a:solidFill>
                  <a:srgbClr val="C79A3A"/>
                </a:solidFill>
              </a:rPr>
              <a:t>●  </a:t>
            </a:r>
            <a:r>
              <a:rPr lang="en-GB" sz="1400" b="1" spc="300" dirty="0">
                <a:solidFill>
                  <a:srgbClr val="6E7B52"/>
                </a:solidFill>
              </a:rPr>
              <a:t>FOCUS THEME</a:t>
            </a:r>
          </a:p>
        </p:txBody>
      </p:sp>
      <p:sp>
        <p:nvSpPr>
          <p:cNvPr id="202" name="footL"/>
          <p:cNvSpPr/>
          <p:nvPr/>
        </p:nvSpPr>
        <p:spPr>
          <a:xfrm>
            <a:off x="762000" y="6451600"/>
            <a:ext cx="5080000" cy="304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>
              <a:buNone/>
            </a:pPr>
            <a:r>
              <a:rPr lang="en-GB" sz="1400" b="1" dirty="0">
                <a:solidFill>
                  <a:srgbClr val="1C1C1A"/>
                </a:solidFill>
              </a:rPr>
              <a:t>Independence is Mine.</a:t>
            </a:r>
          </a:p>
        </p:txBody>
      </p:sp>
      <p:sp>
        <p:nvSpPr>
          <p:cNvPr id="203" name="footR"/>
          <p:cNvSpPr/>
          <p:nvPr/>
        </p:nvSpPr>
        <p:spPr>
          <a:xfrm>
            <a:off x="7112000" y="6451600"/>
            <a:ext cx="4241800" cy="304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>
              <a:buNone/>
            </a:pPr>
            <a:r>
              <a:rPr lang="en-GB" sz="1400" dirty="0">
                <a:solidFill>
                  <a:srgbClr val="8A8577"/>
                </a:solidFill>
              </a:rPr>
              <a:t>mine.financial</a:t>
            </a:r>
          </a:p>
        </p:txBody>
      </p:sp>
      <p:graphicFrame>
        <p:nvGraphicFramePr>
          <p:cNvPr id="150" name="Chart"/>
          <p:cNvGraphicFramePr/>
          <p:nvPr/>
        </p:nvGraphicFramePr>
        <p:xfrm>
          <a:off x="7188200" y="1498600"/>
          <a:ext cx="4521200" cy="231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41830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EEE4"/>
              </a:gs>
              <a:gs pos="100000">
                <a:srgbClr val="EAE3D5"/>
              </a:gs>
            </a:gsLst>
            <a:lin ang="42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072A33-19D3-13E2-477A-1510BE37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1066800"/>
            <a:ext cx="10668000" cy="1905000"/>
          </a:xfrm>
        </p:spPr>
        <p:txBody>
          <a:bodyPr anchor="t"/>
          <a:lstStyle/>
          <a:p>
            <a:pPr algn="l">
              <a:lnSpc>
                <a:spcPct val="94000"/>
              </a:lnSpc>
              <a:buNone/>
            </a:pPr>
            <a:r>
              <a:rPr lang="en-GB" sz="4000" b="1" dirty="0">
                <a:solidFill>
                  <a:srgbClr val="1C1C1A"/>
                </a:solidFill>
              </a:rPr>
              <a:t>MINE:</a:t>
            </a:r>
          </a:p>
          <a:p>
            <a:pPr algn="l">
              <a:lnSpc>
                <a:spcPct val="94000"/>
              </a:lnSpc>
              <a:buNone/>
            </a:pPr>
            <a:r>
              <a:rPr lang="en-GB" sz="4000" b="1" dirty="0">
                <a:gradFill>
                  <a:gsLst>
                    <a:gs pos="0">
                      <a:srgbClr val="3E7B4E"/>
                    </a:gs>
                    <a:gs pos="45000">
                      <a:srgbClr val="C79A3A"/>
                    </a:gs>
                    <a:gs pos="100000">
                      <a:srgbClr val="C24631"/>
                    </a:gs>
                  </a:gsLst>
                  <a:lin ang="0" scaled="1"/>
                </a:gradFill>
              </a:rPr>
              <a:t>what we’re testing.</a:t>
            </a:r>
          </a:p>
        </p:txBody>
      </p:sp>
      <p:sp>
        <p:nvSpPr>
          <p:cNvPr id="80" name="framing"/>
          <p:cNvSpPr/>
          <p:nvPr/>
        </p:nvSpPr>
        <p:spPr>
          <a:xfrm>
            <a:off x="762000" y="2946400"/>
            <a:ext cx="6096000" cy="635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>
              <a:buNone/>
            </a:pPr>
            <a:r>
              <a:rPr lang="en-GB" sz="1600" dirty="0">
                <a:solidFill>
                  <a:srgbClr val="45443E"/>
                </a:solidFill>
              </a:rPr>
              <a:t>Fast experiments — the winners port to Thorwallet.</a:t>
            </a:r>
          </a:p>
        </p:txBody>
      </p:sp>
      <p:sp>
        <p:nvSpPr>
          <p:cNvPr id="201" name="eyebrow"/>
          <p:cNvSpPr/>
          <p:nvPr/>
        </p:nvSpPr>
        <p:spPr>
          <a:xfrm>
            <a:off x="762000" y="584200"/>
            <a:ext cx="7112000" cy="381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>
              <a:buNone/>
            </a:pPr>
            <a:r>
              <a:rPr lang="en-GB" sz="1400" b="1" spc="300" dirty="0">
                <a:solidFill>
                  <a:srgbClr val="C79A3A"/>
                </a:solidFill>
              </a:rPr>
              <a:t>●  </a:t>
            </a:r>
            <a:r>
              <a:rPr lang="en-GB" sz="1400" b="1" spc="300" dirty="0">
                <a:solidFill>
                  <a:srgbClr val="6E7B52"/>
                </a:solidFill>
              </a:rPr>
              <a:t>FOCUS THEME</a:t>
            </a:r>
          </a:p>
        </p:txBody>
      </p:sp>
      <p:sp>
        <p:nvSpPr>
          <p:cNvPr id="202" name="footL"/>
          <p:cNvSpPr/>
          <p:nvPr/>
        </p:nvSpPr>
        <p:spPr>
          <a:xfrm>
            <a:off x="762000" y="6451600"/>
            <a:ext cx="5080000" cy="304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>
              <a:buNone/>
            </a:pPr>
            <a:r>
              <a:rPr lang="en-GB" sz="1400" b="1" dirty="0">
                <a:solidFill>
                  <a:srgbClr val="1C1C1A"/>
                </a:solidFill>
              </a:rPr>
              <a:t>Independence is Mine.</a:t>
            </a:r>
          </a:p>
        </p:txBody>
      </p:sp>
      <p:sp>
        <p:nvSpPr>
          <p:cNvPr id="203" name="footR"/>
          <p:cNvSpPr/>
          <p:nvPr/>
        </p:nvSpPr>
        <p:spPr>
          <a:xfrm>
            <a:off x="7112000" y="6451600"/>
            <a:ext cx="4241800" cy="304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>
              <a:buNone/>
            </a:pPr>
            <a:r>
              <a:rPr lang="en-GB" sz="1400" dirty="0">
                <a:solidFill>
                  <a:srgbClr val="8A8577"/>
                </a:solidFill>
              </a:rPr>
              <a:t>mine.financial</a:t>
            </a:r>
          </a:p>
        </p:txBody>
      </p:sp>
      <p:sp>
        <p:nvSpPr>
          <p:cNvPr id="210" name="chip0"/>
          <p:cNvSpPr/>
          <p:nvPr/>
        </p:nvSpPr>
        <p:spPr>
          <a:xfrm>
            <a:off x="736600" y="3175000"/>
            <a:ext cx="6172200" cy="431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</p:spPr>
        <p:txBody>
          <a:bodyPr lIns="137160" tIns="0" rIns="91440" bIns="0" anchor="ctr"/>
          <a:lstStyle/>
          <a:p>
            <a:pPr algn="l">
              <a:buNone/>
            </a:pPr>
            <a:r>
              <a:rPr lang="en-GB" sz="1400" b="1" dirty="0">
                <a:solidFill>
                  <a:srgbClr val="3E7B4E"/>
                </a:solidFill>
              </a:rPr>
              <a:t>✓   </a:t>
            </a:r>
            <a:r>
              <a:rPr lang="en-GB" sz="1400" dirty="0">
                <a:solidFill>
                  <a:srgbClr val="2E2E2A"/>
                </a:solidFill>
              </a:rPr>
              <a:t>KYC changes &amp; tests</a:t>
            </a:r>
          </a:p>
        </p:txBody>
      </p:sp>
      <p:sp>
        <p:nvSpPr>
          <p:cNvPr id="211" name="chip1"/>
          <p:cNvSpPr/>
          <p:nvPr/>
        </p:nvSpPr>
        <p:spPr>
          <a:xfrm>
            <a:off x="736600" y="3683000"/>
            <a:ext cx="6172200" cy="431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</p:spPr>
        <p:txBody>
          <a:bodyPr lIns="137160" tIns="0" rIns="91440" bIns="0" anchor="ctr"/>
          <a:lstStyle/>
          <a:p>
            <a:pPr algn="l">
              <a:buNone/>
            </a:pPr>
            <a:r>
              <a:rPr lang="en-GB" sz="1400" b="1" dirty="0">
                <a:solidFill>
                  <a:srgbClr val="3E7B4E"/>
                </a:solidFill>
              </a:rPr>
              <a:t>✓   </a:t>
            </a:r>
            <a:r>
              <a:rPr lang="en-GB" sz="1400" dirty="0">
                <a:solidFill>
                  <a:srgbClr val="2E2E2A"/>
                </a:solidFill>
              </a:rPr>
              <a:t>Expanding Ondo stocks functionality</a:t>
            </a:r>
          </a:p>
        </p:txBody>
      </p:sp>
      <p:sp>
        <p:nvSpPr>
          <p:cNvPr id="212" name="chip2"/>
          <p:cNvSpPr/>
          <p:nvPr/>
        </p:nvSpPr>
        <p:spPr>
          <a:xfrm>
            <a:off x="736600" y="4191000"/>
            <a:ext cx="6172200" cy="431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</p:spPr>
        <p:txBody>
          <a:bodyPr lIns="137160" tIns="0" rIns="91440" bIns="0" anchor="ctr"/>
          <a:lstStyle/>
          <a:p>
            <a:pPr algn="l">
              <a:buNone/>
            </a:pPr>
            <a:r>
              <a:rPr lang="en-GB" sz="1400" b="1" dirty="0">
                <a:solidFill>
                  <a:srgbClr val="3E7B4E"/>
                </a:solidFill>
              </a:rPr>
              <a:t>✓   </a:t>
            </a:r>
            <a:r>
              <a:rPr lang="en-GB" sz="1400" dirty="0">
                <a:solidFill>
                  <a:srgbClr val="2E2E2A"/>
                </a:solidFill>
              </a:rPr>
              <a:t>Gasless </a:t>
            </a:r>
            <a:r>
              <a:rPr lang="en-GB" sz="1400">
                <a:solidFill>
                  <a:srgbClr val="2E2E2A"/>
                </a:solidFill>
              </a:rPr>
              <a:t>payments option (EVM)</a:t>
            </a:r>
            <a:endParaRPr lang="en-GB" sz="1400" dirty="0">
              <a:solidFill>
                <a:srgbClr val="2E2E2A"/>
              </a:solidFill>
            </a:endParaRPr>
          </a:p>
        </p:txBody>
      </p:sp>
      <p:sp>
        <p:nvSpPr>
          <p:cNvPr id="213" name="chip3"/>
          <p:cNvSpPr/>
          <p:nvPr/>
        </p:nvSpPr>
        <p:spPr>
          <a:xfrm>
            <a:off x="736600" y="4699000"/>
            <a:ext cx="6172200" cy="431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</p:spPr>
        <p:txBody>
          <a:bodyPr lIns="137160" tIns="0" rIns="91440" bIns="0" anchor="ctr"/>
          <a:lstStyle/>
          <a:p>
            <a:pPr algn="l">
              <a:buNone/>
            </a:pPr>
            <a:r>
              <a:rPr lang="en-GB" sz="1400" b="1" dirty="0">
                <a:solidFill>
                  <a:srgbClr val="3E7B4E"/>
                </a:solidFill>
              </a:rPr>
              <a:t>✓   </a:t>
            </a:r>
            <a:r>
              <a:rPr lang="en-GB" sz="1400" dirty="0">
                <a:solidFill>
                  <a:srgbClr val="2E2E2A"/>
                </a:solidFill>
              </a:rPr>
              <a:t>Mt Pelerin EUR &amp; CHF IBAN</a:t>
            </a:r>
          </a:p>
        </p:txBody>
      </p:sp>
      <p:sp>
        <p:nvSpPr>
          <p:cNvPr id="214" name="chip4"/>
          <p:cNvSpPr/>
          <p:nvPr/>
        </p:nvSpPr>
        <p:spPr>
          <a:xfrm>
            <a:off x="736600" y="5207000"/>
            <a:ext cx="6172200" cy="431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</p:spPr>
        <p:txBody>
          <a:bodyPr lIns="137160" tIns="0" rIns="91440" bIns="0" anchor="ctr"/>
          <a:lstStyle/>
          <a:p>
            <a:pPr algn="l">
              <a:buNone/>
            </a:pPr>
            <a:r>
              <a:rPr lang="en-GB" sz="1400" b="1" dirty="0">
                <a:solidFill>
                  <a:srgbClr val="3E7B4E"/>
                </a:solidFill>
              </a:rPr>
              <a:t>✓   </a:t>
            </a:r>
            <a:r>
              <a:rPr lang="en-GB" sz="1400" dirty="0">
                <a:solidFill>
                  <a:srgbClr val="2E2E2A"/>
                </a:solidFill>
              </a:rPr>
              <a:t>Hyperliquid integration</a:t>
            </a:r>
          </a:p>
        </p:txBody>
      </p:sp>
      <p:sp>
        <p:nvSpPr>
          <p:cNvPr id="215" name="chip5"/>
          <p:cNvSpPr/>
          <p:nvPr/>
        </p:nvSpPr>
        <p:spPr>
          <a:xfrm>
            <a:off x="736600" y="5715000"/>
            <a:ext cx="6172200" cy="431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</p:spPr>
        <p:txBody>
          <a:bodyPr lIns="137160" tIns="0" rIns="91440" bIns="0" anchor="ctr"/>
          <a:lstStyle/>
          <a:p>
            <a:pPr algn="l">
              <a:buNone/>
            </a:pPr>
            <a:r>
              <a:rPr lang="en-GB" sz="1400" b="1" dirty="0">
                <a:solidFill>
                  <a:srgbClr val="3E7B4E"/>
                </a:solidFill>
              </a:rPr>
              <a:t>✓   </a:t>
            </a:r>
            <a:r>
              <a:rPr lang="en-GB" sz="1400" dirty="0">
                <a:solidFill>
                  <a:srgbClr val="2E2E2A"/>
                </a:solidFill>
              </a:rPr>
              <a:t>Screen layout: table &amp; foldable</a:t>
            </a:r>
          </a:p>
        </p:txBody>
      </p:sp>
      <p:sp>
        <p:nvSpPr>
          <p:cNvPr id="220" name="cap"/>
          <p:cNvSpPr/>
          <p:nvPr/>
        </p:nvSpPr>
        <p:spPr>
          <a:xfrm>
            <a:off x="7061200" y="5461000"/>
            <a:ext cx="4724400" cy="355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400" i="1" dirty="0">
                <a:solidFill>
                  <a:srgbClr val="8A8577"/>
                </a:solidFill>
              </a:rPr>
              <a:t>Two-pane layout on foldables &amp; tablets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6EF26A-4280-275E-613A-5E8305119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905000"/>
            <a:ext cx="4648200" cy="350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74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1BE0-52CF-11E9-86FE-2A76756C0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GB" b="1" dirty="0">
                <a:solidFill>
                  <a:srgbClr val="FFFFFF"/>
                </a:solidFill>
              </a:rPr>
              <a:t>Focus Theme: </a:t>
            </a:r>
            <a:r>
              <a:rPr lang="en-GB" b="1" dirty="0">
                <a:gradFill>
                  <a:gsLst>
                    <a:gs pos="0">
                      <a:srgbClr val="38B6FF"/>
                    </a:gs>
                    <a:gs pos="55000">
                      <a:srgbClr val="34D6C4"/>
                    </a:gs>
                    <a:gs pos="100000">
                      <a:srgbClr val="1FD1B4"/>
                    </a:gs>
                  </a:gsLst>
                  <a:lin ang="0" scaled="1"/>
                </a:gradFill>
              </a:rPr>
              <a:t>AI</a:t>
            </a:r>
          </a:p>
        </p:txBody>
      </p:sp>
      <p:sp>
        <p:nvSpPr>
          <p:cNvPr id="80" name="framing"/>
          <p:cNvSpPr/>
          <p:nvPr/>
        </p:nvSpPr>
        <p:spPr>
          <a:xfrm>
            <a:off x="838200" y="2514600"/>
            <a:ext cx="10515600" cy="431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>
              <a:buNone/>
            </a:pPr>
            <a:r>
              <a:rPr lang="en-GB" sz="1600" i="1" dirty="0">
                <a:solidFill>
                  <a:srgbClr val="AEC6D0"/>
                </a:solidFill>
              </a:rPr>
              <a:t>Let’s take 10 minutes to share best practices — here’s my current workflow:</a:t>
            </a:r>
          </a:p>
        </p:txBody>
      </p:sp>
      <p:sp>
        <p:nvSpPr>
          <p:cNvPr id="100" name="c0"/>
          <p:cNvSpPr/>
          <p:nvPr/>
        </p:nvSpPr>
        <p:spPr>
          <a:xfrm>
            <a:off x="838200" y="3149600"/>
            <a:ext cx="3505200" cy="3200400"/>
          </a:xfrm>
          <a:prstGeom prst="roundRect">
            <a:avLst>
              <a:gd name="adj" fmla="val 5000"/>
            </a:avLst>
          </a:prstGeom>
          <a:solidFill>
            <a:srgbClr val="14303D"/>
          </a:solidFill>
          <a:ln w="12700">
            <a:solidFill>
              <a:srgbClr val="1FD1B4">
                <a:alpha val="45000"/>
              </a:srgbClr>
            </a:solidFill>
          </a:ln>
        </p:spPr>
        <p:txBody>
          <a:bodyPr lIns="137160" tIns="137160" rIns="137160" bIns="137160" anchor="t"/>
          <a:lstStyle/>
          <a:p>
            <a:pPr>
              <a:spcAft>
                <a:spcPts val="600"/>
              </a:spcAft>
              <a:buNone/>
            </a:pPr>
            <a:r>
              <a:rPr lang="en-GB" sz="1700" b="1" dirty="0">
                <a:solidFill>
                  <a:srgbClr val="1FD1B4"/>
                </a:solidFill>
              </a:rPr>
              <a:t>Plan &amp; implement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Plan with Fable (ultracode)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Implement with Fable 4.8 Max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ultracode when credits remain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Leave Fable 5 out of the build</a:t>
            </a:r>
          </a:p>
        </p:txBody>
      </p:sp>
      <p:sp>
        <p:nvSpPr>
          <p:cNvPr id="101" name="c1"/>
          <p:cNvSpPr/>
          <p:nvPr/>
        </p:nvSpPr>
        <p:spPr>
          <a:xfrm>
            <a:off x="4597400" y="3149600"/>
            <a:ext cx="3505200" cy="3200400"/>
          </a:xfrm>
          <a:prstGeom prst="roundRect">
            <a:avLst>
              <a:gd name="adj" fmla="val 5000"/>
            </a:avLst>
          </a:prstGeom>
          <a:solidFill>
            <a:srgbClr val="14303D"/>
          </a:solidFill>
          <a:ln w="12700">
            <a:solidFill>
              <a:srgbClr val="38B6FF">
                <a:alpha val="45000"/>
              </a:srgbClr>
            </a:solidFill>
          </a:ln>
        </p:spPr>
        <p:txBody>
          <a:bodyPr lIns="137160" tIns="137160" rIns="137160" bIns="137160" anchor="t"/>
          <a:lstStyle/>
          <a:p>
            <a:pPr>
              <a:spcAft>
                <a:spcPts val="600"/>
              </a:spcAft>
              <a:buNone/>
            </a:pPr>
            <a:r>
              <a:rPr lang="en-GB" sz="1700" b="1" dirty="0">
                <a:solidFill>
                  <a:srgbClr val="38B6FF"/>
                </a:solidFill>
              </a:rPr>
              <a:t>Overnight builds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Fable 5 ultracode, 5-hour windows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When credits allow (~once a week)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e.g. first version of Hyperliquid</a:t>
            </a:r>
          </a:p>
        </p:txBody>
      </p:sp>
      <p:sp>
        <p:nvSpPr>
          <p:cNvPr id="102" name="c2"/>
          <p:cNvSpPr/>
          <p:nvPr/>
        </p:nvSpPr>
        <p:spPr>
          <a:xfrm>
            <a:off x="8356600" y="3149600"/>
            <a:ext cx="3505200" cy="3200400"/>
          </a:xfrm>
          <a:prstGeom prst="roundRect">
            <a:avLst>
              <a:gd name="adj" fmla="val 5000"/>
            </a:avLst>
          </a:prstGeom>
          <a:solidFill>
            <a:srgbClr val="14303D"/>
          </a:solidFill>
          <a:ln w="12700">
            <a:solidFill>
              <a:srgbClr val="9B8CFF">
                <a:alpha val="45000"/>
              </a:srgbClr>
            </a:solidFill>
          </a:ln>
        </p:spPr>
        <p:txBody>
          <a:bodyPr lIns="137160" tIns="137160" rIns="137160" bIns="137160" anchor="t"/>
          <a:lstStyle/>
          <a:p>
            <a:pPr>
              <a:spcAft>
                <a:spcPts val="600"/>
              </a:spcAft>
              <a:buNone/>
            </a:pPr>
            <a:r>
              <a:rPr lang="en-GB" sz="1700" b="1" dirty="0">
                <a:solidFill>
                  <a:srgbClr val="9B8CFF"/>
                </a:solidFill>
              </a:rPr>
              <a:t>Design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Design work → Fable 5 only</a:t>
            </a:r>
          </a:p>
          <a:p>
            <a:pPr marL="200025" indent="-200025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/>
              <a:buChar char="▪"/>
            </a:pPr>
            <a:r>
              <a:rPr lang="en-GB" sz="1500" dirty="0">
                <a:solidFill>
                  <a:srgbClr val="DCE9EE"/>
                </a:solidFill>
              </a:rPr>
              <a:t>Kept separate from build models</a:t>
            </a:r>
          </a:p>
        </p:txBody>
      </p:sp>
      <p:sp>
        <p:nvSpPr>
          <p:cNvPr id="130" name="banner"/>
          <p:cNvSpPr/>
          <p:nvPr/>
        </p:nvSpPr>
        <p:spPr>
          <a:xfrm>
            <a:off x="838200" y="1778000"/>
            <a:ext cx="10515600" cy="584200"/>
          </a:xfrm>
          <a:prstGeom prst="roundRect">
            <a:avLst>
              <a:gd name="adj" fmla="val 26000"/>
            </a:avLst>
          </a:prstGeom>
          <a:solidFill>
            <a:srgbClr val="1FD1B4"/>
          </a:solidFill>
          <a:ln>
            <a:noFill/>
          </a:ln>
        </p:spPr>
        <p:txBody>
          <a:bodyPr lIns="182880" tIns="0" rIns="182880" bIns="0" anchor="ctr"/>
          <a:lstStyle/>
          <a:p>
            <a:pPr algn="l">
              <a:buNone/>
            </a:pPr>
            <a:r>
              <a:rPr lang="en-GB" sz="1600" b="1" dirty="0">
                <a:solidFill>
                  <a:srgbClr val="07131B"/>
                </a:solidFill>
              </a:rPr>
              <a:t>Everyone gets a $100 Claude Team account</a:t>
            </a:r>
          </a:p>
        </p:txBody>
      </p:sp>
    </p:spTree>
    <p:extLst>
      <p:ext uri="{BB962C8B-B14F-4D97-AF65-F5344CB8AC3E}">
        <p14:creationId xmlns:p14="http://schemas.microsoft.com/office/powerpoint/2010/main" val="3125893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3E2B-6AD6-60C9-765C-5F2FDC78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3600" b="1" dirty="0">
                <a:solidFill>
                  <a:srgbClr val="FFFFFF"/>
                </a:solidFill>
              </a:rPr>
              <a:t>Focus Theme: </a:t>
            </a:r>
            <a:r>
              <a:rPr lang="en-GB" sz="3600" b="1" dirty="0">
                <a:solidFill>
                  <a:srgbClr val="1FD1B4"/>
                </a:solidFill>
              </a:rPr>
              <a:t>Last Mile</a:t>
            </a:r>
          </a:p>
        </p:txBody>
      </p:sp>
      <p:sp>
        <p:nvSpPr>
          <p:cNvPr id="80" name="framing"/>
          <p:cNvSpPr/>
          <p:nvPr/>
        </p:nvSpPr>
        <p:spPr>
          <a:xfrm>
            <a:off x="838200" y="1752600"/>
            <a:ext cx="10515600" cy="558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>
              <a:buNone/>
            </a:pPr>
            <a:r>
              <a:rPr lang="en-GB" sz="1800" i="1" dirty="0">
                <a:solidFill>
                  <a:srgbClr val="7CE0C4"/>
                </a:solidFill>
              </a:rPr>
              <a:t>From ‘almost done’ to shipped — led by Pedro</a:t>
            </a:r>
          </a:p>
        </p:txBody>
      </p:sp>
    </p:spTree>
    <p:extLst>
      <p:ext uri="{BB962C8B-B14F-4D97-AF65-F5344CB8AC3E}">
        <p14:creationId xmlns:p14="http://schemas.microsoft.com/office/powerpoint/2010/main" val="2087147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A2DDE-3468-EFAE-861D-8F49CF32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3600" b="1" dirty="0">
                <a:solidFill>
                  <a:srgbClr val="FFFFFF"/>
                </a:solidFill>
              </a:rPr>
              <a:t>Focus: </a:t>
            </a:r>
            <a:r>
              <a:rPr lang="en-GB" sz="3600" b="1" dirty="0">
                <a:solidFill>
                  <a:srgbClr val="1FD1B4"/>
                </a:solidFill>
              </a:rPr>
              <a:t>1:1</a:t>
            </a:r>
          </a:p>
        </p:txBody>
      </p:sp>
      <p:sp>
        <p:nvSpPr>
          <p:cNvPr id="80" name="framing"/>
          <p:cNvSpPr/>
          <p:nvPr/>
        </p:nvSpPr>
        <p:spPr>
          <a:xfrm>
            <a:off x="838200" y="1752600"/>
            <a:ext cx="10515600" cy="558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>
              <a:buNone/>
            </a:pPr>
            <a:r>
              <a:rPr lang="en-GB" sz="1800" i="1" dirty="0">
                <a:solidFill>
                  <a:srgbClr val="7CE0C4"/>
                </a:solidFill>
              </a:rPr>
              <a:t>Time to connect one-on-one — feedback, growth, and support</a:t>
            </a:r>
          </a:p>
        </p:txBody>
      </p:sp>
      <p:sp>
        <p:nvSpPr>
          <p:cNvPr id="100" name="c0"/>
          <p:cNvSpPr/>
          <p:nvPr/>
        </p:nvSpPr>
        <p:spPr>
          <a:xfrm>
            <a:off x="838200" y="2540000"/>
            <a:ext cx="3505200" cy="3632200"/>
          </a:xfrm>
          <a:prstGeom prst="roundRect">
            <a:avLst>
              <a:gd name="adj" fmla="val 5000"/>
            </a:avLst>
          </a:prstGeom>
          <a:solidFill>
            <a:srgbClr val="14303D"/>
          </a:solidFill>
          <a:ln w="12700">
            <a:solidFill>
              <a:srgbClr val="1FD1B4">
                <a:alpha val="30000"/>
              </a:srgbClr>
            </a:solidFill>
          </a:ln>
        </p:spPr>
        <p:txBody>
          <a:bodyPr lIns="137160" tIns="137160" rIns="137160" bIns="137160" anchor="t"/>
          <a:lstStyle/>
          <a:p>
            <a:pPr>
              <a:spcAft>
                <a:spcPts val="600"/>
              </a:spcAft>
              <a:buNone/>
            </a:pPr>
            <a:r>
              <a:rPr lang="en-GB" sz="1900" b="1" dirty="0">
                <a:solidFill>
                  <a:srgbClr val="1FD1B4"/>
                </a:solidFill>
              </a:rPr>
              <a:t>How it works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GB" sz="1500" dirty="0">
                <a:solidFill>
                  <a:srgbClr val="DCE9EE"/>
                </a:solidFill>
              </a:rPr>
              <a:t>Paired 1:1 slots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GB" sz="1500" dirty="0">
                <a:solidFill>
                  <a:srgbClr val="DCE9EE"/>
                </a:solidFill>
              </a:rPr>
              <a:t>~30 min each</a:t>
            </a:r>
          </a:p>
        </p:txBody>
      </p:sp>
      <p:sp>
        <p:nvSpPr>
          <p:cNvPr id="101" name="c1"/>
          <p:cNvSpPr/>
          <p:nvPr/>
        </p:nvSpPr>
        <p:spPr>
          <a:xfrm>
            <a:off x="4597400" y="2540000"/>
            <a:ext cx="3505200" cy="3632200"/>
          </a:xfrm>
          <a:prstGeom prst="roundRect">
            <a:avLst>
              <a:gd name="adj" fmla="val 5000"/>
            </a:avLst>
          </a:prstGeom>
          <a:solidFill>
            <a:srgbClr val="14303D"/>
          </a:solidFill>
          <a:ln w="12700">
            <a:solidFill>
              <a:srgbClr val="38B6FF">
                <a:alpha val="30000"/>
              </a:srgbClr>
            </a:solidFill>
          </a:ln>
        </p:spPr>
        <p:txBody>
          <a:bodyPr lIns="137160" tIns="137160" rIns="137160" bIns="137160" anchor="t"/>
          <a:lstStyle/>
          <a:p>
            <a:pPr>
              <a:spcAft>
                <a:spcPts val="600"/>
              </a:spcAft>
              <a:buNone/>
            </a:pPr>
            <a:r>
              <a:rPr lang="en-GB" sz="1900" b="1" dirty="0">
                <a:solidFill>
                  <a:srgbClr val="38B6FF"/>
                </a:solidFill>
              </a:rPr>
              <a:t>What to talk about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GB" sz="1500" dirty="0">
                <a:solidFill>
                  <a:srgbClr val="DCE9EE"/>
                </a:solidFill>
              </a:rPr>
              <a:t>Wins &amp; challenges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GB" sz="1500" dirty="0">
                <a:solidFill>
                  <a:srgbClr val="DCE9EE"/>
                </a:solidFill>
              </a:rPr>
              <a:t>Growth &amp; goals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GB" sz="1500" dirty="0">
                <a:solidFill>
                  <a:srgbClr val="DCE9EE"/>
                </a:solidFill>
              </a:rPr>
              <a:t>Feedback both ways</a:t>
            </a:r>
          </a:p>
        </p:txBody>
      </p:sp>
      <p:sp>
        <p:nvSpPr>
          <p:cNvPr id="102" name="c2"/>
          <p:cNvSpPr/>
          <p:nvPr/>
        </p:nvSpPr>
        <p:spPr>
          <a:xfrm>
            <a:off x="8356600" y="2540000"/>
            <a:ext cx="3505200" cy="3632200"/>
          </a:xfrm>
          <a:prstGeom prst="roundRect">
            <a:avLst>
              <a:gd name="adj" fmla="val 5000"/>
            </a:avLst>
          </a:prstGeom>
          <a:solidFill>
            <a:srgbClr val="14303D"/>
          </a:solidFill>
          <a:ln w="12700">
            <a:solidFill>
              <a:srgbClr val="FFC15E">
                <a:alpha val="30000"/>
              </a:srgbClr>
            </a:solidFill>
          </a:ln>
        </p:spPr>
        <p:txBody>
          <a:bodyPr lIns="137160" tIns="137160" rIns="137160" bIns="137160" anchor="t"/>
          <a:lstStyle/>
          <a:p>
            <a:pPr>
              <a:spcAft>
                <a:spcPts val="600"/>
              </a:spcAft>
              <a:buNone/>
            </a:pPr>
            <a:r>
              <a:rPr lang="en-GB" sz="1900" b="1" dirty="0">
                <a:solidFill>
                  <a:srgbClr val="FFC15E"/>
                </a:solidFill>
              </a:rPr>
              <a:t>Come prepared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GB" sz="1500" dirty="0">
                <a:solidFill>
                  <a:srgbClr val="DCE9EE"/>
                </a:solidFill>
              </a:rPr>
              <a:t>One thing going well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GB" sz="1500" dirty="0">
                <a:solidFill>
                  <a:srgbClr val="DCE9EE"/>
                </a:solidFill>
              </a:rPr>
              <a:t>One thing to improve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GB" sz="1500" dirty="0">
                <a:solidFill>
                  <a:srgbClr val="DCE9EE"/>
                </a:solidFill>
              </a:rPr>
              <a:t>One ask or need</a:t>
            </a:r>
          </a:p>
        </p:txBody>
      </p:sp>
    </p:spTree>
    <p:extLst>
      <p:ext uri="{BB962C8B-B14F-4D97-AF65-F5344CB8AC3E}">
        <p14:creationId xmlns:p14="http://schemas.microsoft.com/office/powerpoint/2010/main" val="385918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8077602874]">
  <a:themeElements>
    <a:clrScheme name="Office">
      <a:dk1>
        <a:srgbClr val="F2F7F9"/>
      </a:dk1>
      <a:lt1>
        <a:srgbClr val="0A1A24"/>
      </a:lt1>
      <a:dk2>
        <a:srgbClr val="0A1A24"/>
      </a:dk2>
      <a:lt2>
        <a:srgbClr val="14303D"/>
      </a:lt2>
      <a:accent1>
        <a:srgbClr val="1FD1B4"/>
      </a:accent1>
      <a:accent2>
        <a:srgbClr val="38B6FF"/>
      </a:accent2>
      <a:accent3>
        <a:srgbClr val="7CE0C4"/>
      </a:accent3>
      <a:accent4>
        <a:srgbClr val="FFC15E"/>
      </a:accent4>
      <a:accent5>
        <a:srgbClr val="9B8CFF"/>
      </a:accent5>
      <a:accent6>
        <a:srgbClr val="5A7A88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195596-A342-2A46-ACF5-9FDEF8FAF8F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3e92c74-4fbf-413c-8e65-54ee2019df4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506</Words>
  <Application>Microsoft Macintosh PowerPoint</Application>
  <PresentationFormat>Widescreen</PresentationFormat>
  <Paragraphs>120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Montserrat</vt:lpstr>
      <vt:lpstr>Open Sans</vt:lpstr>
      <vt:lpstr>Office Theme [1788077602874]</vt:lpstr>
      <vt:lpstr>●  THORWALLET TEAM OFF-SITE Let’s build together.</vt:lpstr>
      <vt:lpstr>Agenda</vt:lpstr>
      <vt:lpstr>Schedule Mon–Wed</vt:lpstr>
      <vt:lpstr>Thorwallet Roadmap</vt:lpstr>
      <vt:lpstr>MINE: an AI-first lab.</vt:lpstr>
      <vt:lpstr>MINE: what we’re testing.</vt:lpstr>
      <vt:lpstr>Focus Theme: AI</vt:lpstr>
      <vt:lpstr>Focus Theme: Last Mile</vt:lpstr>
      <vt:lpstr>Focus: 1:1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Harmann</dc:creator>
  <cp:lastModifiedBy>Marcel Harmann</cp:lastModifiedBy>
  <cp:revision>2</cp:revision>
  <dcterms:created xsi:type="dcterms:W3CDTF">2026-08-30T08:08:57Z</dcterms:created>
  <dcterms:modified xsi:type="dcterms:W3CDTF">2026-08-30T09:37:11Z</dcterms:modified>
</cp:coreProperties>
</file>